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 snapToObjects="1">
      <p:cViewPr varScale="1">
        <p:scale>
          <a:sx n="124" d="100"/>
          <a:sy n="124" d="100"/>
        </p:scale>
        <p:origin x="64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BEE8"/>
          </a:solidFill>
          <a:ln>
            <a:solidFill>
              <a:srgbClr val="4A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2743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4ABEE8"/>
                </a:solidFill>
                <a:latin typeface="Aptos"/>
              </a:rPr>
              <a:t>OPSPILOT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4937760" cy="1417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4000" b="1" i="0">
                <a:solidFill>
                  <a:srgbClr val="F2F7FC"/>
                </a:solidFill>
                <a:latin typeface="Aptos"/>
              </a:rPr>
              <a:t>AI Incident
War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71800"/>
            <a:ext cx="457200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0" i="0">
                <a:solidFill>
                  <a:srgbClr val="A6B9CC"/>
                </a:solidFill>
                <a:latin typeface="Aptos"/>
              </a:rPr>
              <a:t>Grounded multi-agent investigation for faster, safer operational response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886200"/>
            <a:ext cx="1828800" cy="36576"/>
          </a:xfrm>
          <a:prstGeom prst="rect">
            <a:avLst/>
          </a:prstGeom>
          <a:solidFill>
            <a:srgbClr val="2AD39D"/>
          </a:solidFill>
          <a:ln>
            <a:solidFill>
              <a:srgbClr val="2AD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4160520"/>
            <a:ext cx="42062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n-US" sz="1400" b="1" i="0" dirty="0">
                <a:solidFill>
                  <a:srgbClr val="F2F7FC"/>
                </a:solidFill>
                <a:latin typeface="Aptos"/>
              </a:rPr>
              <a:t>A Neuro SAN Studio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572000"/>
            <a:ext cx="48463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 dirty="0">
                <a:solidFill>
                  <a:srgbClr val="A6B9CC"/>
                </a:solidFill>
                <a:latin typeface="Aptos"/>
              </a:rPr>
              <a:t>Synthetic incidents, local logs, runbooks, and an evidence-bounded response path</a:t>
            </a:r>
          </a:p>
        </p:txBody>
      </p:sp>
      <p:pic>
        <p:nvPicPr>
          <p:cNvPr id="9" name="Picture 8" descr="01_agent_registry.png"/>
          <p:cNvPicPr>
            <a:picLocks noChangeAspect="1"/>
          </p:cNvPicPr>
          <p:nvPr/>
        </p:nvPicPr>
        <p:blipFill>
          <a:blip r:embed="rId2"/>
          <a:srcRect l="15763" r="15763"/>
          <a:stretch>
            <a:fillRect/>
          </a:stretch>
        </p:blipFill>
        <p:spPr>
          <a:xfrm>
            <a:off x="5650992" y="777240"/>
            <a:ext cx="5897880" cy="5257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650992" y="777240"/>
            <a:ext cx="5897880" cy="5257800"/>
          </a:xfrm>
          <a:prstGeom prst="rect">
            <a:avLst/>
          </a:prstGeom>
          <a:noFill/>
          <a:ln w="15240">
            <a:solidFill>
              <a:srgbClr val="418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15000" y="6144768"/>
            <a:ext cx="2743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A6B9CC"/>
                </a:solidFill>
                <a:latin typeface="Aptos"/>
              </a:rPr>
              <a:t>OpsPilot network 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528816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A6B9CC"/>
                </a:solidFill>
                <a:latin typeface="Aptos"/>
              </a:rPr>
              <a:t>OpsPilot | Neuro SAN Studio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6528816"/>
            <a:ext cx="24231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0" i="0">
                <a:solidFill>
                  <a:srgbClr val="A6B9CC"/>
                </a:solidFill>
                <a:latin typeface="Aptos"/>
              </a:rPr>
              <a:t>AI Incident War Room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3FCF65-477C-90BE-23E8-1CDCA49A6512}"/>
              </a:ext>
            </a:extLst>
          </p:cNvPr>
          <p:cNvSpPr txBox="1"/>
          <p:nvPr/>
        </p:nvSpPr>
        <p:spPr>
          <a:xfrm>
            <a:off x="658368" y="5344668"/>
            <a:ext cx="420624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n-US" sz="1400" b="1" i="0" dirty="0">
                <a:solidFill>
                  <a:srgbClr val="F2F7FC"/>
                </a:solidFill>
                <a:latin typeface="Aptos"/>
              </a:rPr>
              <a:t>Arunkumar Muthukumarasamy | 417163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29260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4ABEE8"/>
                </a:solidFill>
                <a:latin typeface="Aptos"/>
              </a:rPr>
              <a:t>01 |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2F7FC"/>
                </a:solidFill>
                <a:latin typeface="Aptos"/>
              </a:rPr>
              <a:t>Incident response is a correlation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607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A6B9CC"/>
                </a:solidFill>
                <a:latin typeface="Aptos"/>
              </a:rPr>
              <a:t>Critical context is spread across logs, runbooks, and human memory.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27632"/>
            <a:ext cx="10972800" cy="13716"/>
          </a:xfrm>
          <a:prstGeom prst="rect">
            <a:avLst/>
          </a:prstGeom>
          <a:solidFill>
            <a:srgbClr val="4ABEE8"/>
          </a:solidFill>
          <a:ln>
            <a:solidFill>
              <a:srgbClr val="4A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347472"/>
            <a:ext cx="594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A6B9CC"/>
                </a:solidFill>
                <a:latin typeface="Aptos"/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3429000" cy="2011680"/>
          </a:xfrm>
          <a:prstGeom prst="roundRect">
            <a:avLst/>
          </a:prstGeom>
          <a:solidFill>
            <a:srgbClr val="172235"/>
          </a:solidFill>
          <a:ln>
            <a:solidFill>
              <a:srgbClr val="1D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73152" cy="2011680"/>
          </a:xfrm>
          <a:prstGeom prst="rect">
            <a:avLst/>
          </a:prstGeom>
          <a:solidFill>
            <a:srgbClr val="4ABEE8"/>
          </a:solidFill>
          <a:ln>
            <a:solidFill>
              <a:srgbClr val="4A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2157984"/>
            <a:ext cx="30632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F2F7FC"/>
                </a:solidFill>
                <a:latin typeface="Aptos"/>
              </a:rPr>
              <a:t>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505456"/>
            <a:ext cx="3081528" cy="1399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A6B9CC"/>
                </a:solidFill>
                <a:latin typeface="Aptos"/>
              </a:rPr>
              <a:t>Find the right log lines across noisy operational files and timelines.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011680"/>
            <a:ext cx="3429000" cy="2011680"/>
          </a:xfrm>
          <a:prstGeom prst="roundRect">
            <a:avLst/>
          </a:prstGeom>
          <a:solidFill>
            <a:srgbClr val="172235"/>
          </a:solidFill>
          <a:ln>
            <a:solidFill>
              <a:srgbClr val="1D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70832" y="2011680"/>
            <a:ext cx="73152" cy="2011680"/>
          </a:xfrm>
          <a:prstGeom prst="rect">
            <a:avLst/>
          </a:prstGeom>
          <a:solidFill>
            <a:srgbClr val="F6BE40"/>
          </a:solidFill>
          <a:ln>
            <a:solidFill>
              <a:srgbClr val="F6B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2157984"/>
            <a:ext cx="30632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F2F7FC"/>
                </a:solidFill>
                <a:latin typeface="Aptos"/>
              </a:rPr>
              <a:t>CORRELATE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05456"/>
            <a:ext cx="3081528" cy="1399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A6B9CC"/>
                </a:solidFill>
                <a:latin typeface="Aptos"/>
              </a:rPr>
              <a:t>Connect symptoms to the right documented runbook and failure pattern.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2011680"/>
            <a:ext cx="3429000" cy="2011680"/>
          </a:xfrm>
          <a:prstGeom prst="roundRect">
            <a:avLst/>
          </a:prstGeom>
          <a:solidFill>
            <a:srgbClr val="172235"/>
          </a:solidFill>
          <a:ln>
            <a:solidFill>
              <a:srgbClr val="1D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83296" y="2011680"/>
            <a:ext cx="73152" cy="2011680"/>
          </a:xfrm>
          <a:prstGeom prst="rect">
            <a:avLst/>
          </a:prstGeom>
          <a:solidFill>
            <a:srgbClr val="2AD39D"/>
          </a:solidFill>
          <a:ln>
            <a:solidFill>
              <a:srgbClr val="2AD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84464" y="2157984"/>
            <a:ext cx="30632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F2F7FC"/>
                </a:solidFill>
                <a:latin typeface="Aptos"/>
              </a:rPr>
              <a:t>DECIDE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505456"/>
            <a:ext cx="3081528" cy="1399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A6B9CC"/>
                </a:solidFill>
                <a:latin typeface="Aptos"/>
              </a:rPr>
              <a:t>Know whether the available evidence is sufficient to recommend next steps.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617720"/>
            <a:ext cx="30175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F2F7FC"/>
                </a:solidFill>
                <a:latin typeface="Aptos"/>
              </a:rPr>
              <a:t>The cost of a weak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074920"/>
            <a:ext cx="2286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2AD39D"/>
                </a:solidFill>
                <a:latin typeface="Apto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065776"/>
            <a:ext cx="612648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F2F7FC"/>
                </a:solidFill>
                <a:latin typeface="Aptos"/>
              </a:rPr>
              <a:t>Triage slows down when evidence is gathered manually.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504688"/>
            <a:ext cx="2286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2AD39D"/>
                </a:solidFill>
                <a:latin typeface="Apto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495544"/>
            <a:ext cx="612648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F2F7FC"/>
                </a:solidFill>
                <a:latin typeface="Aptos"/>
              </a:rPr>
              <a:t>Runbook guidance can be missed or applied out of context.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934456"/>
            <a:ext cx="2286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2AD39D"/>
                </a:solidFill>
                <a:latin typeface="Apto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925312"/>
            <a:ext cx="612648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F2F7FC"/>
                </a:solidFill>
                <a:latin typeface="Aptos"/>
              </a:rPr>
              <a:t>Unsupported certainty is dangerous during an active incident.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18120" y="4590288"/>
            <a:ext cx="3611880" cy="1261872"/>
          </a:xfrm>
          <a:prstGeom prst="roundRect">
            <a:avLst/>
          </a:prstGeom>
          <a:solidFill>
            <a:srgbClr val="1D2D46"/>
          </a:solidFill>
          <a:ln>
            <a:solidFill>
              <a:srgbClr val="F6B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65008" y="4773168"/>
            <a:ext cx="18288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6BE40"/>
                </a:solidFill>
                <a:latin typeface="Aptos"/>
              </a:rPr>
              <a:t>Design goal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5008" y="5120640"/>
            <a:ext cx="29718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F2F7FC"/>
                </a:solidFill>
                <a:latin typeface="Aptos"/>
              </a:rPr>
              <a:t>Make the investigation explainable, reviewable, and fail-closed when evidence is missing.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6528816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A6B9CC"/>
                </a:solidFill>
                <a:latin typeface="Aptos"/>
              </a:rPr>
              <a:t>OpsPilot | Neuro SAN Studio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6528816"/>
            <a:ext cx="24231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0" i="0">
                <a:solidFill>
                  <a:srgbClr val="A6B9CC"/>
                </a:solidFill>
                <a:latin typeface="Aptos"/>
              </a:rPr>
              <a:t>AI Incident War Room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29260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4ABEE8"/>
                </a:solidFill>
                <a:latin typeface="Aptos"/>
              </a:rPr>
              <a:t>02 | OPSPILOT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2F7FC"/>
                </a:solidFill>
                <a:latin typeface="Aptos"/>
              </a:rPr>
              <a:t>A digital war room with a clear evidence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607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A6B9CC"/>
                </a:solidFill>
                <a:latin typeface="Aptos"/>
              </a:rPr>
              <a:t>Specialists do one job each; the commander turns their outputs into an operational narrative.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27632"/>
            <a:ext cx="10972800" cy="13716"/>
          </a:xfrm>
          <a:prstGeom prst="rect">
            <a:avLst/>
          </a:prstGeom>
          <a:solidFill>
            <a:srgbClr val="4ABEE8"/>
          </a:solidFill>
          <a:ln>
            <a:solidFill>
              <a:srgbClr val="4A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347472"/>
            <a:ext cx="594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A6B9CC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20240"/>
            <a:ext cx="4709160" cy="4160520"/>
          </a:xfrm>
          <a:prstGeom prst="roundRect">
            <a:avLst/>
          </a:prstGeom>
          <a:solidFill>
            <a:srgbClr val="172235"/>
          </a:solidFill>
          <a:ln>
            <a:solidFill>
              <a:srgbClr val="1D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212848"/>
            <a:ext cx="4023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F2F7FC"/>
                </a:solidFill>
                <a:latin typeface="Aptos"/>
              </a:rPr>
              <a:t>Four stages, one accountable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365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ABEE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770632"/>
            <a:ext cx="12344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F2F7FC"/>
                </a:solidFill>
                <a:latin typeface="Aptos"/>
              </a:rPr>
              <a:t>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770632"/>
            <a:ext cx="24231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A6B9CC"/>
                </a:solidFill>
                <a:latin typeface="Aptos"/>
              </a:rPr>
              <a:t>Incident record + local log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8992" y="3136391"/>
            <a:ext cx="18288" cy="338328"/>
          </a:xfrm>
          <a:prstGeom prst="rect">
            <a:avLst/>
          </a:prstGeom>
          <a:solidFill>
            <a:srgbClr val="1D2D46"/>
          </a:solidFill>
          <a:ln>
            <a:solidFill>
              <a:srgbClr val="1D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502152"/>
            <a:ext cx="365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6BE40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483864"/>
            <a:ext cx="12344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F2F7FC"/>
                </a:solidFill>
                <a:latin typeface="Aptos"/>
              </a:rPr>
              <a:t>Understand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483864"/>
            <a:ext cx="24231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A6B9CC"/>
                </a:solidFill>
                <a:latin typeface="Aptos"/>
              </a:rPr>
              <a:t>Matching KB and documented cause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78992" y="3849624"/>
            <a:ext cx="18288" cy="338328"/>
          </a:xfrm>
          <a:prstGeom prst="rect">
            <a:avLst/>
          </a:prstGeom>
          <a:solidFill>
            <a:srgbClr val="1D2D46"/>
          </a:solidFill>
          <a:ln>
            <a:solidFill>
              <a:srgbClr val="1D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215383"/>
            <a:ext cx="365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2AD39D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197096"/>
            <a:ext cx="12344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F2F7FC"/>
                </a:solidFill>
                <a:latin typeface="Aptos"/>
              </a:rPr>
              <a:t>Prepare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4197096"/>
            <a:ext cx="24231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A6B9CC"/>
                </a:solidFill>
                <a:latin typeface="Aptos"/>
              </a:rPr>
              <a:t>Traceable recovery and validation actions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78992" y="4562855"/>
            <a:ext cx="18288" cy="338328"/>
          </a:xfrm>
          <a:prstGeom prst="rect">
            <a:avLst/>
          </a:prstGeom>
          <a:solidFill>
            <a:srgbClr val="1D2D46"/>
          </a:solidFill>
          <a:ln>
            <a:solidFill>
              <a:srgbClr val="1D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928616"/>
            <a:ext cx="365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180EC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910328"/>
            <a:ext cx="12344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F2F7FC"/>
                </a:solidFill>
                <a:latin typeface="Aptos"/>
              </a:rPr>
              <a:t>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910328"/>
            <a:ext cx="24231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A6B9CC"/>
                </a:solidFill>
                <a:latin typeface="Aptos"/>
              </a:rPr>
              <a:t>Grounding check + stakeholder 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23560"/>
            <a:ext cx="3977639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4ABEE8"/>
                </a:solidFill>
                <a:latin typeface="Aptos"/>
              </a:rPr>
              <a:t>The response is not just an answer.
It is a chain of evidence, guidance, review, and communication.</a:t>
            </a:r>
          </a:p>
        </p:txBody>
      </p:sp>
      <p:pic>
        <p:nvPicPr>
          <p:cNvPr id="25" name="Picture 24" descr="01_agent_registry.png"/>
          <p:cNvPicPr>
            <a:picLocks noChangeAspect="1"/>
          </p:cNvPicPr>
          <p:nvPr/>
        </p:nvPicPr>
        <p:blipFill>
          <a:blip r:embed="rId2"/>
          <a:srcRect l="7405" r="7405"/>
          <a:stretch>
            <a:fillRect/>
          </a:stretch>
        </p:blipFill>
        <p:spPr>
          <a:xfrm>
            <a:off x="5715000" y="1920240"/>
            <a:ext cx="5806440" cy="416052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5715000" y="1920240"/>
            <a:ext cx="5806440" cy="4160520"/>
          </a:xfrm>
          <a:prstGeom prst="rect">
            <a:avLst/>
          </a:prstGeom>
          <a:noFill/>
          <a:ln w="15240">
            <a:solidFill>
              <a:srgbClr val="2AD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1792" y="6528816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A6B9CC"/>
                </a:solidFill>
                <a:latin typeface="Aptos"/>
              </a:rPr>
              <a:t>Source: local OpsPilot fixtures and registry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6528816"/>
            <a:ext cx="24231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0" i="0">
                <a:solidFill>
                  <a:srgbClr val="A6B9CC"/>
                </a:solidFill>
                <a:latin typeface="Aptos"/>
              </a:rPr>
              <a:t>AI Incident War Room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29260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4ABEE8"/>
                </a:solidFill>
                <a:latin typeface="Aptos"/>
              </a:rPr>
              <a:t>03 |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2F7FC"/>
                </a:solidFill>
                <a:latin typeface="Aptos"/>
              </a:rPr>
              <a:t>From request to evidence-bounded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607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A6B9CC"/>
                </a:solidFill>
                <a:latin typeface="Aptos"/>
              </a:rPr>
              <a:t>Validation is the gate; local coded tools are the evidence boundary.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27632"/>
            <a:ext cx="10972800" cy="13716"/>
          </a:xfrm>
          <a:prstGeom prst="rect">
            <a:avLst/>
          </a:prstGeom>
          <a:solidFill>
            <a:srgbClr val="4ABEE8"/>
          </a:solidFill>
          <a:ln>
            <a:solidFill>
              <a:srgbClr val="4A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347472"/>
            <a:ext cx="594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A6B9CC"/>
                </a:solidFill>
                <a:latin typeface="Apto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993392"/>
            <a:ext cx="12344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A6B9CC"/>
                </a:solidFill>
                <a:latin typeface="Aptos"/>
              </a:rPr>
              <a:t>USER 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993392"/>
            <a:ext cx="14173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A6B9CC"/>
                </a:solidFill>
                <a:latin typeface="Aptos"/>
              </a:rPr>
              <a:t>COORDINATION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993392"/>
            <a:ext cx="13258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A6B9CC"/>
                </a:solidFill>
                <a:latin typeface="Aptos"/>
              </a:rPr>
              <a:t>SPECIALISTS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2992" y="1993392"/>
            <a:ext cx="10058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A6B9CC"/>
                </a:solidFill>
                <a:latin typeface="Aptos"/>
              </a:rPr>
              <a:t>SOURCES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1554480" cy="566928"/>
          </a:xfrm>
          <a:prstGeom prst="roundRect">
            <a:avLst/>
          </a:prstGeom>
          <a:solidFill>
            <a:srgbClr val="1D2D46"/>
          </a:solidFill>
          <a:ln>
            <a:solidFill>
              <a:srgbClr val="4A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2935224"/>
            <a:ext cx="1444752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F2F7FC"/>
                </a:solidFill>
                <a:latin typeface="Aptos"/>
              </a:rPr>
              <a:t>Incident request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788920"/>
            <a:ext cx="2057400" cy="566928"/>
          </a:xfrm>
          <a:prstGeom prst="roundRect">
            <a:avLst/>
          </a:prstGeom>
          <a:solidFill>
            <a:srgbClr val="F6BE40"/>
          </a:solidFill>
          <a:ln>
            <a:solidFill>
              <a:srgbClr val="4A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52544" y="2935224"/>
            <a:ext cx="1947672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0B121F"/>
                </a:solidFill>
                <a:latin typeface="Aptos"/>
              </a:rPr>
              <a:t>IncidentCommander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95160" y="2267712"/>
            <a:ext cx="1691640" cy="512064"/>
          </a:xfrm>
          <a:prstGeom prst="roundRect">
            <a:avLst/>
          </a:prstGeom>
          <a:solidFill>
            <a:srgbClr val="4180EC"/>
          </a:solidFill>
          <a:ln>
            <a:solidFill>
              <a:srgbClr val="4A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50024" y="2414016"/>
            <a:ext cx="1581912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F2F7FC"/>
                </a:solidFill>
                <a:latin typeface="Aptos"/>
              </a:rPr>
              <a:t>LogInvestigator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95160" y="2953512"/>
            <a:ext cx="1691640" cy="512064"/>
          </a:xfrm>
          <a:prstGeom prst="roundRect">
            <a:avLst/>
          </a:prstGeom>
          <a:solidFill>
            <a:srgbClr val="4180EC"/>
          </a:solidFill>
          <a:ln>
            <a:solidFill>
              <a:srgbClr val="4A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50024" y="3099816"/>
            <a:ext cx="1581912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F2F7FC"/>
                </a:solidFill>
                <a:latin typeface="Aptos"/>
              </a:rPr>
              <a:t>KnowledgeAgent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95160" y="3639312"/>
            <a:ext cx="1691640" cy="512064"/>
          </a:xfrm>
          <a:prstGeom prst="roundRect">
            <a:avLst/>
          </a:prstGeom>
          <a:solidFill>
            <a:srgbClr val="4180EC"/>
          </a:solidFill>
          <a:ln>
            <a:solidFill>
              <a:srgbClr val="4A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50024" y="3785615"/>
            <a:ext cx="1581912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F2F7FC"/>
                </a:solidFill>
                <a:latin typeface="Aptos"/>
              </a:rPr>
              <a:t>ResolutionPlanner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95160" y="4325112"/>
            <a:ext cx="1691640" cy="512064"/>
          </a:xfrm>
          <a:prstGeom prst="roundRect">
            <a:avLst/>
          </a:prstGeom>
          <a:solidFill>
            <a:srgbClr val="4180EC"/>
          </a:solidFill>
          <a:ln>
            <a:solidFill>
              <a:srgbClr val="4A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50024" y="4471416"/>
            <a:ext cx="1581912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F2F7FC"/>
                </a:solidFill>
                <a:latin typeface="Aptos"/>
              </a:rPr>
              <a:t>QualityReviewer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95160" y="5010912"/>
            <a:ext cx="1691640" cy="512064"/>
          </a:xfrm>
          <a:prstGeom prst="roundRect">
            <a:avLst/>
          </a:prstGeom>
          <a:solidFill>
            <a:srgbClr val="4180EC"/>
          </a:solidFill>
          <a:ln>
            <a:solidFill>
              <a:srgbClr val="4A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50024" y="5157216"/>
            <a:ext cx="1581912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F2F7FC"/>
                </a:solidFill>
                <a:latin typeface="Aptos"/>
              </a:rPr>
              <a:t>ExecutiveReporter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38360" y="2267712"/>
            <a:ext cx="1417320" cy="512064"/>
          </a:xfrm>
          <a:prstGeom prst="roundRect">
            <a:avLst/>
          </a:prstGeom>
          <a:solidFill>
            <a:srgbClr val="1D2D46"/>
          </a:solidFill>
          <a:ln>
            <a:solidFill>
              <a:srgbClr val="4A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93224" y="2414016"/>
            <a:ext cx="1307592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F2F7FC"/>
                </a:solidFill>
                <a:latin typeface="Aptos"/>
              </a:rPr>
              <a:t>local logs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38360" y="2953512"/>
            <a:ext cx="1417320" cy="512064"/>
          </a:xfrm>
          <a:prstGeom prst="roundRect">
            <a:avLst/>
          </a:prstGeom>
          <a:solidFill>
            <a:srgbClr val="1D2D46"/>
          </a:solidFill>
          <a:ln>
            <a:solidFill>
              <a:srgbClr val="4A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93224" y="3099816"/>
            <a:ext cx="1307592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F2F7FC"/>
                </a:solidFill>
                <a:latin typeface="Aptos"/>
              </a:rPr>
              <a:t>Markdown KB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38360" y="3639312"/>
            <a:ext cx="1417320" cy="512064"/>
          </a:xfrm>
          <a:prstGeom prst="roundRect">
            <a:avLst/>
          </a:prstGeom>
          <a:solidFill>
            <a:srgbClr val="1D2D46"/>
          </a:solidFill>
          <a:ln>
            <a:solidFill>
              <a:srgbClr val="4A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93224" y="3785615"/>
            <a:ext cx="1307592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F2F7FC"/>
                </a:solidFill>
                <a:latin typeface="Aptos"/>
              </a:rPr>
              <a:t>reviewed plan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38360" y="4325112"/>
            <a:ext cx="1417320" cy="512064"/>
          </a:xfrm>
          <a:prstGeom prst="roundRect">
            <a:avLst/>
          </a:prstGeom>
          <a:solidFill>
            <a:srgbClr val="1D2D46"/>
          </a:solidFill>
          <a:ln>
            <a:solidFill>
              <a:srgbClr val="4A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793224" y="4471416"/>
            <a:ext cx="1307592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F2F7FC"/>
                </a:solidFill>
                <a:latin typeface="Aptos"/>
              </a:rPr>
              <a:t>summary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38360" y="5010912"/>
            <a:ext cx="1417320" cy="512064"/>
          </a:xfrm>
          <a:prstGeom prst="roundRect">
            <a:avLst/>
          </a:prstGeom>
          <a:solidFill>
            <a:srgbClr val="1D2D46"/>
          </a:solidFill>
          <a:ln>
            <a:solidFill>
              <a:srgbClr val="4A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793224" y="5157216"/>
            <a:ext cx="1307592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F2F7FC"/>
                </a:solidFill>
                <a:latin typeface="Aptos"/>
              </a:rPr>
              <a:t>exec summary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212848" y="3072384"/>
            <a:ext cx="2039112" cy="0"/>
          </a:xfrm>
          <a:prstGeom prst="line">
            <a:avLst/>
          </a:prstGeom>
          <a:ln w="19050">
            <a:solidFill>
              <a:srgbClr val="4AB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6382512" y="2542032"/>
            <a:ext cx="548640" cy="530352"/>
          </a:xfrm>
          <a:prstGeom prst="line">
            <a:avLst/>
          </a:prstGeom>
          <a:ln w="19050">
            <a:solidFill>
              <a:srgbClr val="A6B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382512" y="3072384"/>
            <a:ext cx="548640" cy="137160"/>
          </a:xfrm>
          <a:prstGeom prst="line">
            <a:avLst/>
          </a:prstGeom>
          <a:ln w="19050">
            <a:solidFill>
              <a:srgbClr val="A6B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382512" y="3072384"/>
            <a:ext cx="548640" cy="822960"/>
          </a:xfrm>
          <a:prstGeom prst="line">
            <a:avLst/>
          </a:prstGeom>
          <a:ln w="19050">
            <a:solidFill>
              <a:srgbClr val="A6B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382512" y="3072384"/>
            <a:ext cx="548640" cy="1508760"/>
          </a:xfrm>
          <a:prstGeom prst="line">
            <a:avLst/>
          </a:prstGeom>
          <a:ln w="19050">
            <a:solidFill>
              <a:srgbClr val="A6B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382512" y="3072384"/>
            <a:ext cx="548640" cy="2194560"/>
          </a:xfrm>
          <a:prstGeom prst="line">
            <a:avLst/>
          </a:prstGeom>
          <a:ln w="19050">
            <a:solidFill>
              <a:srgbClr val="A6B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732520" y="2523744"/>
            <a:ext cx="941832" cy="0"/>
          </a:xfrm>
          <a:prstGeom prst="line">
            <a:avLst/>
          </a:prstGeom>
          <a:ln w="19050">
            <a:solidFill>
              <a:srgbClr val="4AB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732520" y="3209544"/>
            <a:ext cx="941832" cy="0"/>
          </a:xfrm>
          <a:prstGeom prst="line">
            <a:avLst/>
          </a:prstGeom>
          <a:ln w="19050">
            <a:solidFill>
              <a:srgbClr val="F6B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732520" y="3895344"/>
            <a:ext cx="941832" cy="0"/>
          </a:xfrm>
          <a:prstGeom prst="line">
            <a:avLst/>
          </a:prstGeom>
          <a:ln w="19050">
            <a:solidFill>
              <a:srgbClr val="2AD3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732520" y="4581144"/>
            <a:ext cx="941832" cy="0"/>
          </a:xfrm>
          <a:prstGeom prst="line">
            <a:avLst/>
          </a:prstGeom>
          <a:ln w="19050">
            <a:solidFill>
              <a:srgbClr val="418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732520" y="5266944"/>
            <a:ext cx="941832" cy="0"/>
          </a:xfrm>
          <a:prstGeom prst="line">
            <a:avLst/>
          </a:prstGeom>
          <a:ln w="19050">
            <a:solidFill>
              <a:srgbClr val="F6B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658368" y="5715000"/>
            <a:ext cx="10497312" cy="438912"/>
          </a:xfrm>
          <a:prstGeom prst="roundRect">
            <a:avLst/>
          </a:prstGeom>
          <a:solidFill>
            <a:srgbClr val="172235"/>
          </a:solidFill>
          <a:ln>
            <a:solidFill>
              <a:srgbClr val="2AD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14400" y="5843016"/>
            <a:ext cx="99669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2AD39D"/>
                </a:solidFill>
                <a:latin typeface="Aptos"/>
              </a:rPr>
              <a:t>Fail-closed rule: validate the incident before downstream investigation begins.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" y="6528816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A6B9CC"/>
                </a:solidFill>
                <a:latin typeface="Aptos"/>
              </a:rPr>
              <a:t>Architecture reflects the active basic/opspilot registry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6528816"/>
            <a:ext cx="24231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0" i="0">
                <a:solidFill>
                  <a:srgbClr val="A6B9CC"/>
                </a:solidFill>
                <a:latin typeface="Aptos"/>
              </a:rPr>
              <a:t>AI Incident War Room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29260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4ABEE8"/>
                </a:solidFill>
                <a:latin typeface="Aptos"/>
              </a:rPr>
              <a:t>04 | AGENT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2F7FC"/>
                </a:solidFill>
                <a:latin typeface="Aptos"/>
              </a:rPr>
              <a:t>Six roles, one operating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607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A6B9CC"/>
                </a:solidFill>
                <a:latin typeface="Aptos"/>
              </a:rPr>
              <a:t>The active registry exposes the full network; each specialist has a bounded responsibility.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27632"/>
            <a:ext cx="10972800" cy="13716"/>
          </a:xfrm>
          <a:prstGeom prst="rect">
            <a:avLst/>
          </a:prstGeom>
          <a:solidFill>
            <a:srgbClr val="4ABEE8"/>
          </a:solidFill>
          <a:ln>
            <a:solidFill>
              <a:srgbClr val="4A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347472"/>
            <a:ext cx="594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A6B9CC"/>
                </a:solidFill>
                <a:latin typeface="Aptos"/>
              </a:rPr>
              <a:t>04</a:t>
            </a:r>
          </a:p>
        </p:txBody>
      </p:sp>
      <p:pic>
        <p:nvPicPr>
          <p:cNvPr id="7" name="Picture 6" descr="01_agent_registry.png"/>
          <p:cNvPicPr>
            <a:picLocks noChangeAspect="1"/>
          </p:cNvPicPr>
          <p:nvPr/>
        </p:nvPicPr>
        <p:blipFill>
          <a:blip r:embed="rId2"/>
          <a:srcRect l="2709" r="2709"/>
          <a:stretch>
            <a:fillRect/>
          </a:stretch>
        </p:blipFill>
        <p:spPr>
          <a:xfrm>
            <a:off x="658368" y="1920240"/>
            <a:ext cx="6446520" cy="4160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58368" y="1920240"/>
            <a:ext cx="6446520" cy="4160520"/>
          </a:xfrm>
          <a:prstGeom prst="rect">
            <a:avLst/>
          </a:prstGeom>
          <a:noFill/>
          <a:ln w="15240">
            <a:solidFill>
              <a:srgbClr val="418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406640" y="1993392"/>
            <a:ext cx="4096512" cy="512064"/>
          </a:xfrm>
          <a:prstGeom prst="roundRect">
            <a:avLst/>
          </a:prstGeom>
          <a:solidFill>
            <a:srgbClr val="172235"/>
          </a:solidFill>
          <a:ln>
            <a:solidFill>
              <a:srgbClr val="1D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06640" y="1993392"/>
            <a:ext cx="64008" cy="512064"/>
          </a:xfrm>
          <a:prstGeom prst="rect">
            <a:avLst/>
          </a:prstGeom>
          <a:solidFill>
            <a:srgbClr val="F6BE40"/>
          </a:solidFill>
          <a:ln>
            <a:solidFill>
              <a:srgbClr val="F6B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07808" y="2075688"/>
            <a:ext cx="1600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2F7FC"/>
                </a:solidFill>
                <a:latin typeface="Aptos"/>
              </a:rPr>
              <a:t>IncidentCommander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20" y="2075688"/>
            <a:ext cx="2057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A6B9CC"/>
                </a:solidFill>
                <a:latin typeface="Aptos"/>
              </a:rPr>
              <a:t>Coordinates validation, delegation, and the user-facing response.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2660904"/>
            <a:ext cx="4096512" cy="512064"/>
          </a:xfrm>
          <a:prstGeom prst="roundRect">
            <a:avLst/>
          </a:prstGeom>
          <a:solidFill>
            <a:srgbClr val="172235"/>
          </a:solidFill>
          <a:ln>
            <a:solidFill>
              <a:srgbClr val="1D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06640" y="2660904"/>
            <a:ext cx="64008" cy="512064"/>
          </a:xfrm>
          <a:prstGeom prst="rect">
            <a:avLst/>
          </a:prstGeom>
          <a:solidFill>
            <a:srgbClr val="4ABEE8"/>
          </a:solidFill>
          <a:ln>
            <a:solidFill>
              <a:srgbClr val="4A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07808" y="2743200"/>
            <a:ext cx="1600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2F7FC"/>
                </a:solidFill>
                <a:latin typeface="Aptos"/>
              </a:rPr>
              <a:t>LogInvestigator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2743200"/>
            <a:ext cx="2057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A6B9CC"/>
                </a:solidFill>
                <a:latin typeface="Aptos"/>
              </a:rPr>
              <a:t>Retrieves source-referenced operational evidence.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3328416"/>
            <a:ext cx="4096512" cy="512064"/>
          </a:xfrm>
          <a:prstGeom prst="roundRect">
            <a:avLst/>
          </a:prstGeom>
          <a:solidFill>
            <a:srgbClr val="172235"/>
          </a:solidFill>
          <a:ln>
            <a:solidFill>
              <a:srgbClr val="1D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06640" y="3328416"/>
            <a:ext cx="64008" cy="512064"/>
          </a:xfrm>
          <a:prstGeom prst="rect">
            <a:avLst/>
          </a:prstGeom>
          <a:solidFill>
            <a:srgbClr val="4ABEE8"/>
          </a:solidFill>
          <a:ln>
            <a:solidFill>
              <a:srgbClr val="4A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07808" y="3410712"/>
            <a:ext cx="1600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2F7FC"/>
                </a:solidFill>
                <a:latin typeface="Aptos"/>
              </a:rPr>
              <a:t>KnowledgeAgent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3410712"/>
            <a:ext cx="2057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A6B9CC"/>
                </a:solidFill>
                <a:latin typeface="Aptos"/>
              </a:rPr>
              <a:t>Finds documented runbooks and their key fields.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3995928"/>
            <a:ext cx="4096512" cy="512064"/>
          </a:xfrm>
          <a:prstGeom prst="roundRect">
            <a:avLst/>
          </a:prstGeom>
          <a:solidFill>
            <a:srgbClr val="172235"/>
          </a:solidFill>
          <a:ln>
            <a:solidFill>
              <a:srgbClr val="1D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06640" y="3995928"/>
            <a:ext cx="64008" cy="512064"/>
          </a:xfrm>
          <a:prstGeom prst="rect">
            <a:avLst/>
          </a:prstGeom>
          <a:solidFill>
            <a:srgbClr val="2AD39D"/>
          </a:solidFill>
          <a:ln>
            <a:solidFill>
              <a:srgbClr val="2AD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07808" y="4078224"/>
            <a:ext cx="1600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2F7FC"/>
                </a:solidFill>
                <a:latin typeface="Aptos"/>
              </a:rPr>
              <a:t>ResolutionPlanner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4078224"/>
            <a:ext cx="2057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A6B9CC"/>
                </a:solidFill>
                <a:latin typeface="Aptos"/>
              </a:rPr>
              <a:t>Structures recovery and validation actions.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4663440"/>
            <a:ext cx="4096512" cy="512064"/>
          </a:xfrm>
          <a:prstGeom prst="roundRect">
            <a:avLst/>
          </a:prstGeom>
          <a:solidFill>
            <a:srgbClr val="172235"/>
          </a:solidFill>
          <a:ln>
            <a:solidFill>
              <a:srgbClr val="1D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406640" y="4663440"/>
            <a:ext cx="64008" cy="512064"/>
          </a:xfrm>
          <a:prstGeom prst="rect">
            <a:avLst/>
          </a:prstGeom>
          <a:solidFill>
            <a:srgbClr val="4180EC"/>
          </a:solidFill>
          <a:ln>
            <a:solidFill>
              <a:srgbClr val="418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07808" y="4745736"/>
            <a:ext cx="1600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2F7FC"/>
                </a:solidFill>
                <a:latin typeface="Aptos"/>
              </a:rPr>
              <a:t>QualityReviewer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4745736"/>
            <a:ext cx="2057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A6B9CC"/>
                </a:solidFill>
                <a:latin typeface="Aptos"/>
              </a:rPr>
              <a:t>Checks completeness and grounding.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06640" y="5330952"/>
            <a:ext cx="4096512" cy="512064"/>
          </a:xfrm>
          <a:prstGeom prst="roundRect">
            <a:avLst/>
          </a:prstGeom>
          <a:solidFill>
            <a:srgbClr val="172235"/>
          </a:solidFill>
          <a:ln>
            <a:solidFill>
              <a:srgbClr val="1D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406640" y="5330952"/>
            <a:ext cx="64008" cy="512064"/>
          </a:xfrm>
          <a:prstGeom prst="rect">
            <a:avLst/>
          </a:prstGeom>
          <a:solidFill>
            <a:srgbClr val="F6BE40"/>
          </a:solidFill>
          <a:ln>
            <a:solidFill>
              <a:srgbClr val="F6B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607808" y="5413248"/>
            <a:ext cx="1600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2F7FC"/>
                </a:solidFill>
                <a:latin typeface="Aptos"/>
              </a:rPr>
              <a:t>ExecutiveReporter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5413248"/>
            <a:ext cx="2057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A6B9CC"/>
                </a:solidFill>
                <a:latin typeface="Aptos"/>
              </a:rPr>
              <a:t>Prepares the stakeholder summary.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6528816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A6B9CC"/>
                </a:solidFill>
                <a:latin typeface="Aptos"/>
              </a:rPr>
              <a:t>Screenshot: active six-agent registry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6528816"/>
            <a:ext cx="24231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0" i="0">
                <a:solidFill>
                  <a:srgbClr val="A6B9CC"/>
                </a:solidFill>
                <a:latin typeface="Aptos"/>
              </a:rPr>
              <a:t>AI Incident War Room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29260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4ABEE8"/>
                </a:solidFill>
                <a:latin typeface="Aptos"/>
              </a:rPr>
              <a:t>05 | CODED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2F7FC"/>
                </a:solidFill>
                <a:latin typeface="Aptos"/>
              </a:rPr>
              <a:t>Deterministic tools make the investigation auditable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607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A6B9CC"/>
                </a:solidFill>
                <a:latin typeface="Aptos"/>
              </a:rPr>
              <a:t>The model synthesizes; local tools retrieve and structure bounded evidence.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27632"/>
            <a:ext cx="10972800" cy="13716"/>
          </a:xfrm>
          <a:prstGeom prst="rect">
            <a:avLst/>
          </a:prstGeom>
          <a:solidFill>
            <a:srgbClr val="4ABEE8"/>
          </a:solidFill>
          <a:ln>
            <a:solidFill>
              <a:srgbClr val="4A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347472"/>
            <a:ext cx="594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A6B9CC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074920" cy="1170432"/>
          </a:xfrm>
          <a:prstGeom prst="roundRect">
            <a:avLst/>
          </a:prstGeom>
          <a:solidFill>
            <a:srgbClr val="172235"/>
          </a:solidFill>
          <a:ln>
            <a:solidFill>
              <a:srgbClr val="1D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91440" cy="1170432"/>
          </a:xfrm>
          <a:prstGeom prst="rect">
            <a:avLst/>
          </a:prstGeom>
          <a:solidFill>
            <a:srgbClr val="2AD39D"/>
          </a:solidFill>
          <a:ln>
            <a:solidFill>
              <a:srgbClr val="2AD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139696"/>
            <a:ext cx="4389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F2F7FC"/>
                </a:solidFill>
                <a:latin typeface="Aptos Mono"/>
              </a:rPr>
              <a:t>incident_validator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96312"/>
            <a:ext cx="1645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2AD39D"/>
                </a:solidFill>
                <a:latin typeface="Aptos"/>
              </a:rPr>
              <a:t>Gate the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96896" y="2478024"/>
            <a:ext cx="2743200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A6B9CC"/>
                </a:solidFill>
                <a:latin typeface="Aptos"/>
              </a:rPr>
              <a:t>Known incident?
Unknown -&gt; stop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965960"/>
            <a:ext cx="5074920" cy="1170432"/>
          </a:xfrm>
          <a:prstGeom prst="roundRect">
            <a:avLst/>
          </a:prstGeom>
          <a:solidFill>
            <a:srgbClr val="172235"/>
          </a:solidFill>
          <a:ln>
            <a:solidFill>
              <a:srgbClr val="1D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0488" y="1965960"/>
            <a:ext cx="91440" cy="1170432"/>
          </a:xfrm>
          <a:prstGeom prst="rect">
            <a:avLst/>
          </a:prstGeom>
          <a:solidFill>
            <a:srgbClr val="4ABEE8"/>
          </a:solidFill>
          <a:ln>
            <a:solidFill>
              <a:srgbClr val="4A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2139696"/>
            <a:ext cx="4389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F2F7FC"/>
                </a:solidFill>
                <a:latin typeface="Aptos Mono"/>
              </a:rPr>
              <a:t>log_search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496312"/>
            <a:ext cx="1645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4ABEE8"/>
                </a:solidFill>
                <a:latin typeface="Aptos"/>
              </a:rPr>
              <a:t>Retrieve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9016" y="2478024"/>
            <a:ext cx="2743200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A6B9CC"/>
                </a:solidFill>
                <a:latin typeface="Aptos"/>
              </a:rPr>
              <a:t>Files + line references
Bounded matches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474720"/>
            <a:ext cx="5074920" cy="1170432"/>
          </a:xfrm>
          <a:prstGeom prst="roundRect">
            <a:avLst/>
          </a:prstGeom>
          <a:solidFill>
            <a:srgbClr val="172235"/>
          </a:solidFill>
          <a:ln>
            <a:solidFill>
              <a:srgbClr val="1D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8368" y="3474720"/>
            <a:ext cx="91440" cy="1170432"/>
          </a:xfrm>
          <a:prstGeom prst="rect">
            <a:avLst/>
          </a:prstGeom>
          <a:solidFill>
            <a:srgbClr val="F6BE40"/>
          </a:solidFill>
          <a:ln>
            <a:solidFill>
              <a:srgbClr val="F6B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648456"/>
            <a:ext cx="4389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F2F7FC"/>
                </a:solidFill>
                <a:latin typeface="Aptos Mono"/>
              </a:rPr>
              <a:t>kb_search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005072"/>
            <a:ext cx="1645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6BE40"/>
                </a:solidFill>
                <a:latin typeface="Aptos"/>
              </a:rPr>
              <a:t>Find knowledge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96896" y="3986783"/>
            <a:ext cx="2743200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A6B9CC"/>
                </a:solidFill>
                <a:latin typeface="Aptos"/>
              </a:rPr>
              <a:t>Title + cause + steps
Parsed KB fields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3474720"/>
            <a:ext cx="5074920" cy="1170432"/>
          </a:xfrm>
          <a:prstGeom prst="roundRect">
            <a:avLst/>
          </a:prstGeom>
          <a:solidFill>
            <a:srgbClr val="172235"/>
          </a:solidFill>
          <a:ln>
            <a:solidFill>
              <a:srgbClr val="1D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90488" y="3474720"/>
            <a:ext cx="91440" cy="1170432"/>
          </a:xfrm>
          <a:prstGeom prst="rect">
            <a:avLst/>
          </a:prstGeom>
          <a:solidFill>
            <a:srgbClr val="4180EC"/>
          </a:solidFill>
          <a:ln>
            <a:solidFill>
              <a:srgbClr val="418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46520" y="3648456"/>
            <a:ext cx="4389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F2F7FC"/>
                </a:solidFill>
                <a:latin typeface="Aptos Mono"/>
              </a:rPr>
              <a:t>resolution_plan_builder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005072"/>
            <a:ext cx="1645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4180EC"/>
                </a:solidFill>
                <a:latin typeface="Aptos"/>
              </a:rPr>
              <a:t>Structure guidance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9016" y="3986783"/>
            <a:ext cx="2743200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A6B9CC"/>
                </a:solidFill>
                <a:latin typeface="Aptos"/>
              </a:rPr>
              <a:t>Recovery + validation
Trace to KB source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285232"/>
            <a:ext cx="10607040" cy="566928"/>
          </a:xfrm>
          <a:prstGeom prst="roundRect">
            <a:avLst/>
          </a:prstGeom>
          <a:solidFill>
            <a:srgbClr val="1D2D46"/>
          </a:solidFill>
          <a:ln>
            <a:solidFill>
              <a:srgbClr val="2AD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5468112"/>
            <a:ext cx="10515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2AD39D"/>
                </a:solidFill>
                <a:latin typeface="Aptos"/>
              </a:rPr>
              <a:t>Proof point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84831" y="5422392"/>
            <a:ext cx="86410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F2F7FC"/>
                </a:solidFill>
                <a:latin typeface="Aptos"/>
              </a:rPr>
              <a:t>Focused OpsPilot tests: 38 passed. Coverage includes retrieval, grounding, registry structure, validation, and KB-traceable plan construction.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6528816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A6B9CC"/>
                </a:solidFill>
                <a:latin typeface="Aptos"/>
              </a:rPr>
              <a:t>Tools are local; complete workflow uses the configured LLM for synthesis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528816"/>
            <a:ext cx="24231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0" i="0">
                <a:solidFill>
                  <a:srgbClr val="A6B9CC"/>
                </a:solidFill>
                <a:latin typeface="Aptos"/>
              </a:rPr>
              <a:t>AI Incident War Room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29260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4ABEE8"/>
                </a:solidFill>
                <a:latin typeface="Aptos"/>
              </a:rPr>
              <a:t>06 | LIVE 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2F7FC"/>
                </a:solidFill>
                <a:latin typeface="Aptos"/>
              </a:rPr>
              <a:t>A three-query story that shows capability and restraint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607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A6B9CC"/>
                </a:solidFill>
                <a:latin typeface="Aptos"/>
              </a:rPr>
              <a:t>Start with a grounded investigation, then show direct retrieval and the no-match path.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27632"/>
            <a:ext cx="10972800" cy="13716"/>
          </a:xfrm>
          <a:prstGeom prst="rect">
            <a:avLst/>
          </a:prstGeom>
          <a:solidFill>
            <a:srgbClr val="4ABEE8"/>
          </a:solidFill>
          <a:ln>
            <a:solidFill>
              <a:srgbClr val="4A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347472"/>
            <a:ext cx="594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A6B9CC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3383280" cy="2084831"/>
          </a:xfrm>
          <a:prstGeom prst="roundRect">
            <a:avLst/>
          </a:prstGeom>
          <a:solidFill>
            <a:srgbClr val="172235"/>
          </a:solidFill>
          <a:ln>
            <a:solidFill>
              <a:srgbClr val="1D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2231136"/>
            <a:ext cx="45720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4ABEE8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9616" y="2231136"/>
            <a:ext cx="2240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ABEE8"/>
                </a:solidFill>
                <a:latin typeface="Aptos"/>
              </a:rPr>
              <a:t>Full war-room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724912"/>
            <a:ext cx="288036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 i="0">
                <a:solidFill>
                  <a:srgbClr val="F2F7FC"/>
                </a:solidFill>
                <a:latin typeface="Aptos"/>
              </a:rPr>
              <a:t>Investigate INC008381005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474720"/>
            <a:ext cx="2834640" cy="3383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A6B9CC"/>
                </a:solidFill>
                <a:latin typeface="Aptos"/>
              </a:rPr>
              <a:t>Logs -&gt; KB-1023 -&gt; plan -&gt; review -&gt; summary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11680"/>
            <a:ext cx="3383280" cy="2084831"/>
          </a:xfrm>
          <a:prstGeom prst="roundRect">
            <a:avLst/>
          </a:prstGeom>
          <a:solidFill>
            <a:srgbClr val="172235"/>
          </a:solidFill>
          <a:ln>
            <a:solidFill>
              <a:srgbClr val="1D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08576" y="2231136"/>
            <a:ext cx="45720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6BE40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2231136"/>
            <a:ext cx="2240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6BE40"/>
                </a:solidFill>
                <a:latin typeface="Aptos"/>
              </a:rPr>
              <a:t>Intent-aware route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2724912"/>
            <a:ext cx="288036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 i="0">
                <a:solidFill>
                  <a:srgbClr val="F2F7FC"/>
                </a:solidFill>
                <a:latin typeface="Aptos"/>
              </a:rPr>
              <a:t>Retrieve runbook for INC008381110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3474720"/>
            <a:ext cx="2834640" cy="3383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A6B9CC"/>
                </a:solidFill>
                <a:latin typeface="Aptos"/>
              </a:rPr>
              <a:t>KnowledgeAgent -&gt; KB-1101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2011680"/>
            <a:ext cx="3383280" cy="2084831"/>
          </a:xfrm>
          <a:prstGeom prst="roundRect">
            <a:avLst/>
          </a:prstGeom>
          <a:solidFill>
            <a:srgbClr val="172235"/>
          </a:solidFill>
          <a:ln>
            <a:solidFill>
              <a:srgbClr val="1D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39328" y="2231136"/>
            <a:ext cx="45720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EE6B6B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2231136"/>
            <a:ext cx="2240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E6B6B"/>
                </a:solidFill>
                <a:latin typeface="Aptos"/>
              </a:rPr>
              <a:t>Responsible no-match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2724912"/>
            <a:ext cx="288036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 i="0">
                <a:solidFill>
                  <a:srgbClr val="F2F7FC"/>
                </a:solidFill>
                <a:latin typeface="Aptos"/>
              </a:rPr>
              <a:t>Investigate INC999999999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3474720"/>
            <a:ext cx="2834640" cy="3383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A6B9CC"/>
                </a:solidFill>
                <a:latin typeface="Aptos"/>
              </a:rPr>
              <a:t>Validator -&gt; Not Found -&gt; further investigation</a:t>
            </a:r>
          </a:p>
        </p:txBody>
      </p:sp>
      <p:pic>
        <p:nvPicPr>
          <p:cNvPr id="22" name="Picture 21" descr="10_Focused OpsPilot Tests.png"/>
          <p:cNvPicPr>
            <a:picLocks noChangeAspect="1"/>
          </p:cNvPicPr>
          <p:nvPr/>
        </p:nvPicPr>
        <p:blipFill>
          <a:blip r:embed="rId2"/>
          <a:srcRect l="21895" r="21895"/>
          <a:stretch>
            <a:fillRect/>
          </a:stretch>
        </p:blipFill>
        <p:spPr>
          <a:xfrm>
            <a:off x="658368" y="4462272"/>
            <a:ext cx="5669280" cy="164592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58368" y="4462272"/>
            <a:ext cx="5669280" cy="1645920"/>
          </a:xfrm>
          <a:prstGeom prst="rect">
            <a:avLst/>
          </a:prstGeom>
          <a:noFill/>
          <a:ln w="15240">
            <a:solidFill>
              <a:srgbClr val="418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12_Responsible_AI.png"/>
          <p:cNvPicPr>
            <a:picLocks noChangeAspect="1"/>
          </p:cNvPicPr>
          <p:nvPr/>
        </p:nvPicPr>
        <p:blipFill>
          <a:blip r:embed="rId3"/>
          <a:srcRect t="22797" b="22797"/>
          <a:stretch>
            <a:fillRect/>
          </a:stretch>
        </p:blipFill>
        <p:spPr>
          <a:xfrm>
            <a:off x="6565392" y="4462272"/>
            <a:ext cx="4956048" cy="164592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565392" y="4462272"/>
            <a:ext cx="4956048" cy="1645920"/>
          </a:xfrm>
          <a:prstGeom prst="rect">
            <a:avLst/>
          </a:prstGeom>
          <a:noFill/>
          <a:ln w="15240">
            <a:solidFill>
              <a:srgbClr val="EE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" y="6528816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A6B9CC"/>
                </a:solidFill>
                <a:latin typeface="Aptos"/>
              </a:rPr>
              <a:t>Captured from a local OpsPilot run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6528816"/>
            <a:ext cx="24231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0" i="0">
                <a:solidFill>
                  <a:srgbClr val="A6B9CC"/>
                </a:solidFill>
                <a:latin typeface="Aptos"/>
              </a:rPr>
              <a:t>AI Incident War Room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29260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4ABEE8"/>
                </a:solidFill>
                <a:latin typeface="Aptos"/>
              </a:rPr>
              <a:t>07 | RESPONSIBLE AI &amp; GROUNDING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2F7FC"/>
                </a:solidFill>
                <a:latin typeface="Aptos"/>
              </a:rPr>
              <a:t>The system is designed to say 'not enough evidence'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607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A6B9CC"/>
                </a:solidFill>
                <a:latin typeface="Aptos"/>
              </a:rPr>
              <a:t>Guardrails protect the incident response process from plausible but unsupported conclusions.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27632"/>
            <a:ext cx="10972800" cy="13716"/>
          </a:xfrm>
          <a:prstGeom prst="rect">
            <a:avLst/>
          </a:prstGeom>
          <a:solidFill>
            <a:srgbClr val="4ABEE8"/>
          </a:solidFill>
          <a:ln>
            <a:solidFill>
              <a:srgbClr val="4A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347472"/>
            <a:ext cx="594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A6B9CC"/>
                </a:solidFill>
                <a:latin typeface="Aptos"/>
              </a:rPr>
              <a:t>07</a:t>
            </a:r>
          </a:p>
        </p:txBody>
      </p:sp>
      <p:pic>
        <p:nvPicPr>
          <p:cNvPr id="7" name="Picture 6" descr="12_Responsible_AI.png"/>
          <p:cNvPicPr>
            <a:picLocks noChangeAspect="1"/>
          </p:cNvPicPr>
          <p:nvPr/>
        </p:nvPicPr>
        <p:blipFill>
          <a:blip r:embed="rId2"/>
          <a:srcRect l="12771" r="12771"/>
          <a:stretch>
            <a:fillRect/>
          </a:stretch>
        </p:blipFill>
        <p:spPr>
          <a:xfrm>
            <a:off x="658368" y="1920240"/>
            <a:ext cx="5074920" cy="4160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58368" y="1920240"/>
            <a:ext cx="5074920" cy="4160520"/>
          </a:xfrm>
          <a:prstGeom prst="rect">
            <a:avLst/>
          </a:prstGeom>
          <a:noFill/>
          <a:ln w="15240">
            <a:solidFill>
              <a:srgbClr val="EE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99632" y="1975104"/>
            <a:ext cx="21945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F2F7FC"/>
                </a:solidFill>
                <a:latin typeface="Aptos"/>
              </a:rPr>
              <a:t>Grounding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2784" y="2487168"/>
            <a:ext cx="2286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EE6B6B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7104" y="2478024"/>
            <a:ext cx="46177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F2F7FC"/>
                </a:solidFill>
                <a:latin typeface="Aptos"/>
              </a:rPr>
              <a:t>Validate incident IDs against local source data first.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2784" y="3063240"/>
            <a:ext cx="2286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EE6B6B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3054096"/>
            <a:ext cx="46177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F2F7FC"/>
                </a:solidFill>
                <a:latin typeface="Aptos"/>
              </a:rPr>
              <a:t>Keep observed log evidence separate from KB recommendations.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4" y="3639312"/>
            <a:ext cx="2286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EE6B6B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3630168"/>
            <a:ext cx="46177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F2F7FC"/>
                </a:solidFill>
                <a:latin typeface="Aptos"/>
              </a:rPr>
              <a:t>Treat recovery actions as plans for human review, not executed remediation.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4" y="4215384"/>
            <a:ext cx="2286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EE6B6B"/>
                </a:solidFill>
                <a:latin typeface="Apto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4206240"/>
            <a:ext cx="46177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F2F7FC"/>
                </a:solidFill>
                <a:latin typeface="Aptos"/>
              </a:rPr>
              <a:t>Never turn missing evidence into a cause, status, plan, or confidence claim.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2784" y="4791456"/>
            <a:ext cx="2286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EE6B6B"/>
                </a:solidFill>
                <a:latin typeface="Apto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4782312"/>
            <a:ext cx="46177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F2F7FC"/>
                </a:solidFill>
                <a:latin typeface="Aptos"/>
              </a:rPr>
              <a:t>Unknown incidents return REQUIRES FURTHER INVESTIGATION.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5413248"/>
            <a:ext cx="4937760" cy="566928"/>
          </a:xfrm>
          <a:prstGeom prst="roundRect">
            <a:avLst/>
          </a:prstGeom>
          <a:solidFill>
            <a:srgbClr val="1D2D46"/>
          </a:solidFill>
          <a:ln>
            <a:solidFill>
              <a:srgbClr val="EE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28232" y="5596128"/>
            <a:ext cx="45262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EE6B6B"/>
                </a:solidFill>
                <a:latin typeface="Aptos"/>
              </a:rPr>
              <a:t>INC999999999 -&gt; Not Found -&gt; no downstream investigation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528816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A6B9CC"/>
                </a:solidFill>
                <a:latin typeface="Aptos"/>
              </a:rPr>
              <a:t>Responsible-AI claims align with EVIDENCE_AUDIT.md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6528816"/>
            <a:ext cx="24231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0" i="0">
                <a:solidFill>
                  <a:srgbClr val="A6B9CC"/>
                </a:solidFill>
                <a:latin typeface="Aptos"/>
              </a:rPr>
              <a:t>AI Incident War Room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29260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4ABEE8"/>
                </a:solidFill>
                <a:latin typeface="Aptos"/>
              </a:rPr>
              <a:t>08 | 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2F7FC"/>
                </a:solidFill>
                <a:latin typeface="Aptos"/>
              </a:rPr>
              <a:t>Turn incident response into a repeatable operating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607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A6B9CC"/>
                </a:solidFill>
                <a:latin typeface="Aptos"/>
              </a:rPr>
              <a:t>OpsPilot improves the path from signal to decision without pretending the machine has authority it does not have.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27632"/>
            <a:ext cx="10972800" cy="13716"/>
          </a:xfrm>
          <a:prstGeom prst="rect">
            <a:avLst/>
          </a:prstGeom>
          <a:solidFill>
            <a:srgbClr val="4ABEE8"/>
          </a:solidFill>
          <a:ln>
            <a:solidFill>
              <a:srgbClr val="4A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347472"/>
            <a:ext cx="594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A6B9CC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074920" cy="1078992"/>
          </a:xfrm>
          <a:prstGeom prst="roundRect">
            <a:avLst/>
          </a:prstGeom>
          <a:solidFill>
            <a:srgbClr val="172235"/>
          </a:solidFill>
          <a:ln>
            <a:solidFill>
              <a:srgbClr val="1D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148840"/>
            <a:ext cx="105156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ABEE8"/>
                </a:solidFill>
                <a:latin typeface="Aptos"/>
              </a:rPr>
              <a:t>FASTER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39696" y="2130552"/>
            <a:ext cx="3200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F2F7FC"/>
                </a:solidFill>
                <a:latin typeface="Aptos"/>
              </a:rPr>
              <a:t>Initial triage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39696" y="2496312"/>
            <a:ext cx="3246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A6B9CC"/>
                </a:solidFill>
                <a:latin typeface="Aptos"/>
              </a:rPr>
              <a:t>Reduce manual searching across logs and runbooks.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965960"/>
            <a:ext cx="5074920" cy="1078992"/>
          </a:xfrm>
          <a:prstGeom prst="roundRect">
            <a:avLst/>
          </a:prstGeom>
          <a:solidFill>
            <a:srgbClr val="172235"/>
          </a:solidFill>
          <a:ln>
            <a:solidFill>
              <a:srgbClr val="1D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1" y="2148840"/>
            <a:ext cx="105156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2AD39D"/>
                </a:solidFill>
                <a:latin typeface="Aptos"/>
              </a:rPr>
              <a:t>CONSISTENT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71816" y="2130552"/>
            <a:ext cx="3200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F2F7FC"/>
                </a:solidFill>
                <a:latin typeface="Aptos"/>
              </a:rPr>
              <a:t>Runbook 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71816" y="2496312"/>
            <a:ext cx="3246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A6B9CC"/>
                </a:solidFill>
                <a:latin typeface="Aptos"/>
              </a:rPr>
              <a:t>Bring documented guidance into the same workflow every 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383280"/>
            <a:ext cx="5074920" cy="1078992"/>
          </a:xfrm>
          <a:prstGeom prst="roundRect">
            <a:avLst/>
          </a:prstGeom>
          <a:solidFill>
            <a:srgbClr val="172235"/>
          </a:solidFill>
          <a:ln>
            <a:solidFill>
              <a:srgbClr val="1D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3566160"/>
            <a:ext cx="105156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6BE40"/>
                </a:solidFill>
                <a:latin typeface="Aptos"/>
              </a:rPr>
              <a:t>EXPLAINABLE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39696" y="3547872"/>
            <a:ext cx="3200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F2F7FC"/>
                </a:solidFill>
                <a:latin typeface="Aptos"/>
              </a:rPr>
              <a:t>Root-cause narrative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39696" y="3913632"/>
            <a:ext cx="3246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A6B9CC"/>
                </a:solidFill>
                <a:latin typeface="Aptos"/>
              </a:rPr>
              <a:t>Show how evidence supports the conclusion and the next action.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3383280"/>
            <a:ext cx="5074920" cy="1078992"/>
          </a:xfrm>
          <a:prstGeom prst="roundRect">
            <a:avLst/>
          </a:prstGeom>
          <a:solidFill>
            <a:srgbClr val="172235"/>
          </a:solidFill>
          <a:ln>
            <a:solidFill>
              <a:srgbClr val="1D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28231" y="3566160"/>
            <a:ext cx="105156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E6B6B"/>
                </a:solidFill>
                <a:latin typeface="Aptos"/>
              </a:rPr>
              <a:t>SAFER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71816" y="3547872"/>
            <a:ext cx="3200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F2F7FC"/>
                </a:solidFill>
                <a:latin typeface="Aptos"/>
              </a:rPr>
              <a:t>Operational decisions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71816" y="3913632"/>
            <a:ext cx="3246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A6B9CC"/>
                </a:solidFill>
                <a:latin typeface="Aptos"/>
              </a:rPr>
              <a:t>Surface evidence gaps before unsupported recommendations spread.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120640"/>
            <a:ext cx="10607040" cy="713232"/>
          </a:xfrm>
          <a:prstGeom prst="roundRect">
            <a:avLst/>
          </a:prstGeom>
          <a:solidFill>
            <a:srgbClr val="1D2D46"/>
          </a:solidFill>
          <a:ln>
            <a:solidFill>
              <a:srgbClr val="4A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" y="5340096"/>
            <a:ext cx="12344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4ABEE8"/>
                </a:solidFill>
                <a:latin typeface="Aptos"/>
              </a:rPr>
              <a:t>The outcome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5321808"/>
            <a:ext cx="83210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F2F7FC"/>
                </a:solidFill>
                <a:latin typeface="Aptos"/>
              </a:rPr>
              <a:t>A faster first response, a clearer audit trail, and a disciplined handoff to human operators.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080760"/>
            <a:ext cx="106070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1">
                <a:solidFill>
                  <a:srgbClr val="A6B9CC"/>
                </a:solidFill>
                <a:latin typeface="Aptos"/>
              </a:rPr>
              <a:t>Current scope: synthetic local data; no production remediation, incident-system updates, or recovery verification.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6528816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A6B9CC"/>
                </a:solidFill>
                <a:latin typeface="Aptos"/>
              </a:rPr>
              <a:t>OpsPilot | Neuro SAN Studio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6528816"/>
            <a:ext cx="24231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0" i="0">
                <a:solidFill>
                  <a:srgbClr val="A6B9CC"/>
                </a:solidFill>
                <a:latin typeface="Aptos"/>
              </a:rPr>
              <a:t>AI Incident War Room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853</Words>
  <Application>Microsoft Macintosh PowerPoint</Application>
  <PresentationFormat>Widescreen</PresentationFormat>
  <Paragraphs>168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Mono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Arunkumar Muthukumarasamy</cp:lastModifiedBy>
  <cp:revision>2</cp:revision>
  <dcterms:created xsi:type="dcterms:W3CDTF">2013-01-27T09:14:16Z</dcterms:created>
  <dcterms:modified xsi:type="dcterms:W3CDTF">2026-09-07T09:56:01Z</dcterms:modified>
  <cp:category/>
</cp:coreProperties>
</file>